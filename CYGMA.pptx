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4"/>
  </p:sldMasterIdLst>
  <p:sldIdLst>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ITYA RAMASRE GUPTA" initials="ARG" lastIdx="2" clrIdx="0">
    <p:extLst>
      <p:ext uri="{19B8F6BF-5375-455C-9EA6-DF929625EA0E}">
        <p15:presenceInfo xmlns:p15="http://schemas.microsoft.com/office/powerpoint/2012/main" userId="ADITYA RAMASRE GUPT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529"/>
    <a:srgbClr val="2B3922"/>
    <a:srgbClr val="2E3722"/>
    <a:srgbClr val="FCF7F1"/>
    <a:srgbClr val="B8D233"/>
    <a:srgbClr val="5CC6D6"/>
    <a:srgbClr val="F8D22F"/>
    <a:srgbClr val="F03F2B"/>
    <a:srgbClr val="3488A0"/>
    <a:srgbClr val="5790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9" autoAdjust="0"/>
  </p:normalViewPr>
  <p:slideViewPr>
    <p:cSldViewPr snapToGrid="0">
      <p:cViewPr varScale="1">
        <p:scale>
          <a:sx n="89" d="100"/>
          <a:sy n="89" d="100"/>
        </p:scale>
        <p:origin x="5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1/7/2021</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4147770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153708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1/7/2021</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606071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1/7/2021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744672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1/7/2021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929960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1/7/2021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667413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1/7/2021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907247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1/7/2021</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488602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1/7/2021</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78223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1/7/2021</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81157763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65" r:id="rId5"/>
    <p:sldLayoutId id="2147483671" r:id="rId6"/>
    <p:sldLayoutId id="2147483672" r:id="rId7"/>
    <p:sldLayoutId id="2147483662" r:id="rId8"/>
    <p:sldLayoutId id="2147483663" r:id="rId9"/>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bstract image">
            <a:extLst>
              <a:ext uri="{FF2B5EF4-FFF2-40B4-BE49-F238E27FC236}">
                <a16:creationId xmlns:a16="http://schemas.microsoft.com/office/drawing/2014/main" id="{8045422F-7258-40AC-BD2E-2469AA448922}"/>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0" y="10"/>
            <a:ext cx="12191980" cy="6857990"/>
          </a:xfrm>
          <a:prstGeom prst="rect">
            <a:avLst/>
          </a:prstGeom>
        </p:spPr>
      </p:pic>
      <p:sp>
        <p:nvSpPr>
          <p:cNvPr id="82" name="Rectangle 81">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5067"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84" name="Rectangle 83">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61010" y="1975104"/>
            <a:ext cx="5120640" cy="2907792"/>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6033793" y="2355458"/>
            <a:ext cx="4775075" cy="1630907"/>
          </a:xfrm>
        </p:spPr>
        <p:txBody>
          <a:bodyPr>
            <a:normAutofit/>
          </a:bodyPr>
          <a:lstStyle/>
          <a:p>
            <a:r>
              <a:rPr lang="en-US" sz="4400" dirty="0">
                <a:solidFill>
                  <a:schemeClr val="tx1"/>
                </a:solidFill>
              </a:rPr>
              <a:t>Team </a:t>
            </a:r>
            <a:r>
              <a:rPr lang="en-US" sz="4400" dirty="0" err="1">
                <a:solidFill>
                  <a:schemeClr val="tx1"/>
                </a:solidFill>
              </a:rPr>
              <a:t>cygma</a:t>
            </a:r>
            <a:endParaRPr lang="en-US" sz="4400" dirty="0">
              <a:solidFill>
                <a:schemeClr val="tx1"/>
              </a:solidFill>
            </a:endParaRPr>
          </a:p>
        </p:txBody>
      </p:sp>
      <p:sp>
        <p:nvSpPr>
          <p:cNvPr id="3" name="Subtitle 2">
            <a:extLst>
              <a:ext uri="{FF2B5EF4-FFF2-40B4-BE49-F238E27FC236}">
                <a16:creationId xmlns:a16="http://schemas.microsoft.com/office/drawing/2014/main" id="{C8722DDC-8EEE-4A06-8DFE-B44871EAA2CF}"/>
              </a:ext>
            </a:extLst>
          </p:cNvPr>
          <p:cNvSpPr>
            <a:spLocks noGrp="1"/>
          </p:cNvSpPr>
          <p:nvPr>
            <p:ph type="subTitle" idx="1"/>
          </p:nvPr>
        </p:nvSpPr>
        <p:spPr>
          <a:xfrm>
            <a:off x="6033793" y="3995988"/>
            <a:ext cx="4775075" cy="559656"/>
          </a:xfrm>
        </p:spPr>
        <p:txBody>
          <a:bodyPr>
            <a:normAutofit/>
          </a:bodyPr>
          <a:lstStyle/>
          <a:p>
            <a:pPr>
              <a:spcAft>
                <a:spcPts val="600"/>
              </a:spcAft>
            </a:pPr>
            <a:r>
              <a:rPr lang="en-US" dirty="0">
                <a:solidFill>
                  <a:schemeClr val="tx1"/>
                </a:solidFill>
              </a:rPr>
              <a:t>TOPIC:- FINTECH</a:t>
            </a:r>
          </a:p>
        </p:txBody>
      </p:sp>
    </p:spTree>
    <p:extLst>
      <p:ext uri="{BB962C8B-B14F-4D97-AF65-F5344CB8AC3E}">
        <p14:creationId xmlns:p14="http://schemas.microsoft.com/office/powerpoint/2010/main" val="258428075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C0416-B911-4D29-B6DC-56C457E1AD22}"/>
              </a:ext>
            </a:extLst>
          </p:cNvPr>
          <p:cNvSpPr>
            <a:spLocks noGrp="1"/>
          </p:cNvSpPr>
          <p:nvPr>
            <p:ph type="title"/>
          </p:nvPr>
        </p:nvSpPr>
        <p:spPr/>
        <p:txBody>
          <a:bodyPr/>
          <a:lstStyle/>
          <a:p>
            <a:r>
              <a:rPr lang="en-IN" dirty="0">
                <a:latin typeface="Aharoni" panose="02010803020104030203" pitchFamily="2" charset="-79"/>
                <a:cs typeface="Aharoni" panose="02010803020104030203" pitchFamily="2" charset="-79"/>
              </a:rPr>
              <a:t>FINTECH(FINANCE TECHNOLOGY):-</a:t>
            </a:r>
          </a:p>
        </p:txBody>
      </p:sp>
      <p:sp>
        <p:nvSpPr>
          <p:cNvPr id="3" name="Content Placeholder 2">
            <a:extLst>
              <a:ext uri="{FF2B5EF4-FFF2-40B4-BE49-F238E27FC236}">
                <a16:creationId xmlns:a16="http://schemas.microsoft.com/office/drawing/2014/main" id="{4CCDC69D-CCBB-4897-ABD4-33C6C5AA2008}"/>
              </a:ext>
            </a:extLst>
          </p:cNvPr>
          <p:cNvSpPr>
            <a:spLocks noGrp="1"/>
          </p:cNvSpPr>
          <p:nvPr>
            <p:ph idx="1"/>
          </p:nvPr>
        </p:nvSpPr>
        <p:spPr/>
        <p:txBody>
          <a:bodyPr/>
          <a:lstStyle/>
          <a:p>
            <a:pPr marL="0" indent="0">
              <a:buNone/>
            </a:pPr>
            <a:r>
              <a:rPr lang="en-US" sz="3500" dirty="0">
                <a:latin typeface="Aharoni" panose="02010803020104030203" pitchFamily="2" charset="-79"/>
                <a:cs typeface="Aharoni" panose="02010803020104030203" pitchFamily="2" charset="-79"/>
              </a:rPr>
              <a:t>“ We are already well into a FinTech revolution involving branchless banking and mobile money. These models extend basic account and payment services to people who cannot be reached through traditional branches… ”.</a:t>
            </a:r>
          </a:p>
          <a:p>
            <a:endParaRPr lang="en-IN" dirty="0"/>
          </a:p>
        </p:txBody>
      </p:sp>
    </p:spTree>
    <p:extLst>
      <p:ext uri="{BB962C8B-B14F-4D97-AF65-F5344CB8AC3E}">
        <p14:creationId xmlns:p14="http://schemas.microsoft.com/office/powerpoint/2010/main" val="1455748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31E11-2AA3-4F36-8969-A1C1968ECC26}"/>
              </a:ext>
            </a:extLst>
          </p:cNvPr>
          <p:cNvSpPr>
            <a:spLocks noGrp="1"/>
          </p:cNvSpPr>
          <p:nvPr>
            <p:ph type="ctrTitle"/>
          </p:nvPr>
        </p:nvSpPr>
        <p:spPr/>
        <p:txBody>
          <a:bodyPr>
            <a:normAutofit fontScale="90000"/>
          </a:bodyPr>
          <a:lstStyle/>
          <a:p>
            <a:r>
              <a:rPr lang="en-US" dirty="0"/>
              <a:t>MOTIVE OF OUR PROJECT:-</a:t>
            </a:r>
            <a:br>
              <a:rPr lang="en-US" dirty="0"/>
            </a:br>
            <a:r>
              <a:rPr lang="en-US" sz="3900" dirty="0" err="1">
                <a:latin typeface="Aharoni" panose="02010803020104030203" pitchFamily="2" charset="-79"/>
                <a:cs typeface="Aharoni" panose="02010803020104030203" pitchFamily="2" charset="-79"/>
              </a:rPr>
              <a:t>BanKing</a:t>
            </a:r>
            <a:r>
              <a:rPr lang="en-US" sz="3900" dirty="0">
                <a:latin typeface="Aharoni" panose="02010803020104030203" pitchFamily="2" charset="-79"/>
                <a:cs typeface="Aharoni" panose="02010803020104030203" pitchFamily="2" charset="-79"/>
              </a:rPr>
              <a:t> security</a:t>
            </a:r>
            <a:r>
              <a:rPr lang="en-US" dirty="0"/>
              <a:t>.</a:t>
            </a:r>
            <a:endParaRPr lang="en-IN" dirty="0"/>
          </a:p>
        </p:txBody>
      </p:sp>
      <p:sp>
        <p:nvSpPr>
          <p:cNvPr id="3" name="Subtitle 2">
            <a:extLst>
              <a:ext uri="{FF2B5EF4-FFF2-40B4-BE49-F238E27FC236}">
                <a16:creationId xmlns:a16="http://schemas.microsoft.com/office/drawing/2014/main" id="{33D3CFFA-AECC-4DD9-9148-95AF7C12E62C}"/>
              </a:ext>
            </a:extLst>
          </p:cNvPr>
          <p:cNvSpPr>
            <a:spLocks noGrp="1"/>
          </p:cNvSpPr>
          <p:nvPr>
            <p:ph type="subTitle" idx="1"/>
          </p:nvPr>
        </p:nvSpPr>
        <p:spPr/>
        <p:txBody>
          <a:bodyPr/>
          <a:lstStyle/>
          <a:p>
            <a:r>
              <a:rPr lang="en-US" dirty="0"/>
              <a:t>.</a:t>
            </a:r>
            <a:endParaRPr lang="en-IN" dirty="0"/>
          </a:p>
        </p:txBody>
      </p:sp>
    </p:spTree>
    <p:extLst>
      <p:ext uri="{BB962C8B-B14F-4D97-AF65-F5344CB8AC3E}">
        <p14:creationId xmlns:p14="http://schemas.microsoft.com/office/powerpoint/2010/main" val="3018038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60124-B4C3-4569-ACB6-6228037D4866}"/>
              </a:ext>
            </a:extLst>
          </p:cNvPr>
          <p:cNvSpPr>
            <a:spLocks noGrp="1"/>
          </p:cNvSpPr>
          <p:nvPr>
            <p:ph type="title"/>
          </p:nvPr>
        </p:nvSpPr>
        <p:spPr/>
        <p:txBody>
          <a:bodyPr/>
          <a:lstStyle/>
          <a:p>
            <a:r>
              <a:rPr lang="en-US" dirty="0"/>
              <a:t>INTERNET BANKING SECURITY BY:-</a:t>
            </a:r>
            <a:endParaRPr lang="en-IN" dirty="0"/>
          </a:p>
        </p:txBody>
      </p:sp>
      <p:sp>
        <p:nvSpPr>
          <p:cNvPr id="3" name="Content Placeholder 2">
            <a:extLst>
              <a:ext uri="{FF2B5EF4-FFF2-40B4-BE49-F238E27FC236}">
                <a16:creationId xmlns:a16="http://schemas.microsoft.com/office/drawing/2014/main" id="{B73AC0E6-E0BB-46B0-B01B-332585220581}"/>
              </a:ext>
            </a:extLst>
          </p:cNvPr>
          <p:cNvSpPr>
            <a:spLocks noGrp="1"/>
          </p:cNvSpPr>
          <p:nvPr>
            <p:ph idx="1"/>
          </p:nvPr>
        </p:nvSpPr>
        <p:spPr/>
        <p:txBody>
          <a:bodyPr>
            <a:noAutofit/>
          </a:bodyPr>
          <a:lstStyle/>
          <a:p>
            <a:r>
              <a:rPr lang="en-US" sz="3100" dirty="0">
                <a:latin typeface="Aharoni" panose="02010803020104030203" pitchFamily="2" charset="-79"/>
                <a:cs typeface="Aharoni" panose="02010803020104030203" pitchFamily="2" charset="-79"/>
              </a:rPr>
              <a:t>1.) Proper User Token Generation During Transactions.</a:t>
            </a:r>
          </a:p>
          <a:p>
            <a:r>
              <a:rPr lang="en-US" sz="3100" dirty="0">
                <a:latin typeface="Aharoni" panose="02010803020104030203" pitchFamily="2" charset="-79"/>
                <a:cs typeface="Aharoni" panose="02010803020104030203" pitchFamily="2" charset="-79"/>
              </a:rPr>
              <a:t>2.) User Identity verification after detecting malicious activity.</a:t>
            </a:r>
          </a:p>
          <a:p>
            <a:r>
              <a:rPr lang="en-US" sz="3100" dirty="0">
                <a:latin typeface="Aharoni" panose="02010803020104030203" pitchFamily="2" charset="-79"/>
                <a:cs typeface="Aharoni" panose="02010803020104030203" pitchFamily="2" charset="-79"/>
              </a:rPr>
              <a:t>3.) Avoiding Money Laundering.</a:t>
            </a:r>
          </a:p>
          <a:p>
            <a:r>
              <a:rPr lang="en-US" sz="3100" dirty="0">
                <a:latin typeface="Aharoni" panose="02010803020104030203" pitchFamily="2" charset="-79"/>
                <a:cs typeface="Aharoni" panose="02010803020104030203" pitchFamily="2" charset="-79"/>
              </a:rPr>
              <a:t>4.) Maximum Login Attempts.</a:t>
            </a:r>
          </a:p>
        </p:txBody>
      </p:sp>
    </p:spTree>
    <p:extLst>
      <p:ext uri="{BB962C8B-B14F-4D97-AF65-F5344CB8AC3E}">
        <p14:creationId xmlns:p14="http://schemas.microsoft.com/office/powerpoint/2010/main" val="3010733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76490-D0A3-4ED1-8EF7-34A8D884B3EB}"/>
              </a:ext>
            </a:extLst>
          </p:cNvPr>
          <p:cNvSpPr>
            <a:spLocks noGrp="1"/>
          </p:cNvSpPr>
          <p:nvPr>
            <p:ph type="title"/>
          </p:nvPr>
        </p:nvSpPr>
        <p:spPr/>
        <p:txBody>
          <a:bodyPr/>
          <a:lstStyle/>
          <a:p>
            <a:r>
              <a:rPr lang="en-US" dirty="0"/>
              <a:t>Token Generation:-</a:t>
            </a:r>
            <a:endParaRPr lang="en-IN" dirty="0"/>
          </a:p>
        </p:txBody>
      </p:sp>
      <p:sp>
        <p:nvSpPr>
          <p:cNvPr id="3" name="Content Placeholder 2">
            <a:extLst>
              <a:ext uri="{FF2B5EF4-FFF2-40B4-BE49-F238E27FC236}">
                <a16:creationId xmlns:a16="http://schemas.microsoft.com/office/drawing/2014/main" id="{0D774B2B-A148-4238-9741-6C6A919F6493}"/>
              </a:ext>
            </a:extLst>
          </p:cNvPr>
          <p:cNvSpPr>
            <a:spLocks noGrp="1"/>
          </p:cNvSpPr>
          <p:nvPr>
            <p:ph idx="1"/>
          </p:nvPr>
        </p:nvSpPr>
        <p:spPr/>
        <p:txBody>
          <a:bodyPr>
            <a:normAutofit/>
          </a:bodyPr>
          <a:lstStyle/>
          <a:p>
            <a:r>
              <a:rPr lang="en-US" sz="2000" dirty="0">
                <a:latin typeface="Aharoni" panose="02010803020104030203" pitchFamily="2" charset="-79"/>
                <a:cs typeface="Aharoni" panose="02010803020104030203" pitchFamily="2" charset="-79"/>
              </a:rPr>
              <a:t>The Token Generation is completed by logging into Internet Banking and submitting the token Serial Number and Token Code.</a:t>
            </a:r>
          </a:p>
          <a:p>
            <a:r>
              <a:rPr lang="en-US" sz="2000" dirty="0">
                <a:latin typeface="Aharoni" panose="02010803020104030203" pitchFamily="2" charset="-79"/>
                <a:cs typeface="Aharoni" panose="02010803020104030203" pitchFamily="2" charset="-79"/>
              </a:rPr>
              <a:t>Once you have successfully completed the registration process you will be required to enter your token code at each Internet Banking login after correct USER ID and Password are accepted.</a:t>
            </a:r>
          </a:p>
          <a:p>
            <a:endParaRPr lang="en-US" sz="2000" dirty="0">
              <a:latin typeface="Aharoni" panose="02010803020104030203" pitchFamily="2" charset="-79"/>
              <a:cs typeface="Aharoni" panose="02010803020104030203" pitchFamily="2" charset="-79"/>
            </a:endParaRPr>
          </a:p>
          <a:p>
            <a:r>
              <a:rPr lang="en-US" sz="2000" dirty="0">
                <a:latin typeface="Aharoni" panose="02010803020104030203" pitchFamily="2" charset="-79"/>
                <a:cs typeface="Aharoni" panose="02010803020104030203" pitchFamily="2" charset="-79"/>
              </a:rPr>
              <a:t>BUT SINCE THIS IS THE COMMON METHOD OF IMPLEMENTATION:-</a:t>
            </a:r>
          </a:p>
          <a:p>
            <a:pPr marL="0" indent="0">
              <a:buNone/>
            </a:pPr>
            <a:r>
              <a:rPr lang="en-US" sz="2000" dirty="0">
                <a:latin typeface="Aharoni" panose="02010803020104030203" pitchFamily="2" charset="-79"/>
                <a:cs typeface="Aharoni" panose="02010803020104030203" pitchFamily="2" charset="-79"/>
              </a:rPr>
              <a:t> Our Motive is to bring something more secure and more reliable for the token generation.</a:t>
            </a:r>
            <a:endParaRPr lang="en-IN" sz="2000" dirty="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411857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CA5E91-74A0-4295-82F0-8B9F4E0E8AB0}"/>
              </a:ext>
            </a:extLst>
          </p:cNvPr>
          <p:cNvSpPr txBox="1"/>
          <p:nvPr/>
        </p:nvSpPr>
        <p:spPr>
          <a:xfrm>
            <a:off x="486561" y="486561"/>
            <a:ext cx="11291582" cy="7201972"/>
          </a:xfrm>
          <a:prstGeom prst="rect">
            <a:avLst/>
          </a:prstGeom>
          <a:noFill/>
        </p:spPr>
        <p:txBody>
          <a:bodyPr wrap="square" rtlCol="0">
            <a:spAutoFit/>
          </a:bodyPr>
          <a:lstStyle/>
          <a:p>
            <a:r>
              <a:rPr lang="en-US" dirty="0"/>
              <a:t> ●</a:t>
            </a:r>
            <a:r>
              <a:rPr lang="en-US" sz="2400" b="0" i="0" dirty="0">
                <a:effectLst/>
                <a:latin typeface="Aharoni" panose="02010803020104030203" pitchFamily="2" charset="-79"/>
                <a:cs typeface="Aharoni" panose="02010803020104030203" pitchFamily="2" charset="-79"/>
              </a:rPr>
              <a:t>Tokens are signed to protect against manipulation, they are not encrypted.</a:t>
            </a:r>
            <a:r>
              <a:rPr lang="en-IN" sz="2400" b="0" i="0" dirty="0">
                <a:effectLst/>
                <a:latin typeface="Aharoni" panose="02010803020104030203" pitchFamily="2" charset="-79"/>
                <a:cs typeface="Aharoni" panose="02010803020104030203" pitchFamily="2" charset="-79"/>
              </a:rPr>
              <a:t>They are easy to be </a:t>
            </a:r>
            <a:r>
              <a:rPr lang="en-IN" sz="2400" b="0" i="0" dirty="0" err="1">
                <a:effectLst/>
                <a:latin typeface="Aharoni" panose="02010803020104030203" pitchFamily="2" charset="-79"/>
                <a:cs typeface="Aharoni" panose="02010803020104030203" pitchFamily="2" charset="-79"/>
              </a:rPr>
              <a:t>decoded.This</a:t>
            </a:r>
            <a:r>
              <a:rPr lang="en-IN" sz="2400" b="0" i="0" dirty="0">
                <a:effectLst/>
                <a:latin typeface="Aharoni" panose="02010803020104030203" pitchFamily="2" charset="-79"/>
                <a:cs typeface="Aharoni" panose="02010803020104030203" pitchFamily="2" charset="-79"/>
              </a:rPr>
              <a:t> problem is faced since the Virtual Token is ever lasting.</a:t>
            </a:r>
          </a:p>
          <a:p>
            <a:endParaRPr lang="en-IN" sz="2400" dirty="0">
              <a:latin typeface="Aharoni" panose="02010803020104030203" pitchFamily="2" charset="-79"/>
              <a:cs typeface="Aharoni" panose="02010803020104030203" pitchFamily="2" charset="-79"/>
            </a:endParaRPr>
          </a:p>
          <a:p>
            <a:endParaRPr lang="en-IN" sz="2400" dirty="0">
              <a:latin typeface="Aharoni" panose="02010803020104030203" pitchFamily="2" charset="-79"/>
              <a:cs typeface="Aharoni" panose="02010803020104030203" pitchFamily="2" charset="-79"/>
            </a:endParaRPr>
          </a:p>
          <a:p>
            <a:pPr algn="l"/>
            <a:r>
              <a:rPr lang="en-US" sz="2400" dirty="0"/>
              <a:t>● </a:t>
            </a:r>
            <a:r>
              <a:rPr lang="en-IN" sz="2400" dirty="0">
                <a:highlight>
                  <a:srgbClr val="FFFF00"/>
                </a:highlight>
                <a:latin typeface="Aharoni" panose="02010803020104030203" pitchFamily="2" charset="-79"/>
                <a:cs typeface="Aharoni" panose="02010803020104030203" pitchFamily="2" charset="-79"/>
              </a:rPr>
              <a:t>Our Team is motivated to secure it by giving tokens expiration period.</a:t>
            </a:r>
            <a:r>
              <a:rPr lang="en-US" sz="2400" dirty="0">
                <a:effectLst/>
                <a:highlight>
                  <a:srgbClr val="FFFF00"/>
                </a:highlight>
                <a:latin typeface="Aharoni" panose="02010803020104030203" pitchFamily="2" charset="-79"/>
                <a:cs typeface="Aharoni" panose="02010803020104030203" pitchFamily="2" charset="-79"/>
              </a:rPr>
              <a:t> Technically, once a token is signed – it is valid forever – unless the signing key is changed or expiration explicitly set. This could pose potential issues so have a strategy for expiring and/or revoking tokens. </a:t>
            </a:r>
          </a:p>
          <a:p>
            <a:pPr algn="l"/>
            <a:endParaRPr lang="en-US" sz="2400" dirty="0">
              <a:highlight>
                <a:srgbClr val="FFFF00"/>
              </a:highlight>
              <a:latin typeface="Aharoni" panose="02010803020104030203" pitchFamily="2" charset="-79"/>
              <a:cs typeface="Aharoni" panose="02010803020104030203" pitchFamily="2" charset="-79"/>
            </a:endParaRPr>
          </a:p>
          <a:p>
            <a:pPr algn="l"/>
            <a:endParaRPr lang="en-US" sz="2400" dirty="0">
              <a:effectLst/>
              <a:latin typeface="Aharoni" panose="02010803020104030203" pitchFamily="2" charset="-79"/>
              <a:cs typeface="Aharoni" panose="02010803020104030203" pitchFamily="2" charset="-79"/>
            </a:endParaRPr>
          </a:p>
          <a:p>
            <a:pPr algn="l"/>
            <a:r>
              <a:rPr lang="en-US" sz="2400" dirty="0"/>
              <a:t>● </a:t>
            </a:r>
            <a:r>
              <a:rPr lang="en-US" sz="2400" dirty="0">
                <a:solidFill>
                  <a:srgbClr val="FF0000"/>
                </a:solidFill>
                <a:latin typeface="Aharoni" panose="02010803020104030203" pitchFamily="2" charset="-79"/>
                <a:cs typeface="Aharoni" panose="02010803020104030203" pitchFamily="2" charset="-79"/>
              </a:rPr>
              <a:t>After adding expiration for a token, when the client/user login again using their credentials, a new and fresh token will be generated and hence this will prove to be more secure. </a:t>
            </a:r>
          </a:p>
          <a:p>
            <a:pPr algn="l"/>
            <a:endParaRPr lang="en-US" dirty="0">
              <a:effectLst/>
            </a:endParaRPr>
          </a:p>
          <a:p>
            <a:br>
              <a:rPr lang="en-US" dirty="0">
                <a:effectLst/>
              </a:rPr>
            </a:br>
            <a:endParaRPr lang="en-IN" dirty="0">
              <a:latin typeface="fakt-web"/>
            </a:endParaRPr>
          </a:p>
          <a:p>
            <a:endParaRPr lang="en-IN" dirty="0">
              <a:latin typeface="fakt-web"/>
            </a:endParaRPr>
          </a:p>
          <a:p>
            <a:endParaRPr lang="en-IN" b="0" i="0" dirty="0">
              <a:effectLst/>
              <a:latin typeface="fakt-web"/>
            </a:endParaRPr>
          </a:p>
          <a:p>
            <a:endParaRPr lang="en-IN" dirty="0">
              <a:latin typeface="fakt-web"/>
            </a:endParaRPr>
          </a:p>
          <a:p>
            <a:endParaRPr lang="en-US" b="0" i="0" dirty="0">
              <a:effectLst/>
              <a:latin typeface="fakt-web"/>
            </a:endParaRPr>
          </a:p>
        </p:txBody>
      </p:sp>
    </p:spTree>
    <p:extLst>
      <p:ext uri="{BB962C8B-B14F-4D97-AF65-F5344CB8AC3E}">
        <p14:creationId xmlns:p14="http://schemas.microsoft.com/office/powerpoint/2010/main" val="2222298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633F6-02D9-46BF-B99B-9AF8C83B0D82}"/>
              </a:ext>
            </a:extLst>
          </p:cNvPr>
          <p:cNvSpPr>
            <a:spLocks noGrp="1"/>
          </p:cNvSpPr>
          <p:nvPr>
            <p:ph type="title"/>
          </p:nvPr>
        </p:nvSpPr>
        <p:spPr>
          <a:xfrm>
            <a:off x="1066800" y="642594"/>
            <a:ext cx="10058400" cy="833868"/>
          </a:xfrm>
        </p:spPr>
        <p:txBody>
          <a:bodyPr>
            <a:normAutofit fontScale="90000"/>
          </a:bodyPr>
          <a:lstStyle/>
          <a:p>
            <a:r>
              <a:rPr lang="en-US" sz="3100" u="sng" dirty="0">
                <a:latin typeface="Aharoni" panose="02010803020104030203" pitchFamily="2" charset="-79"/>
                <a:cs typeface="Aharoni" panose="02010803020104030203" pitchFamily="2" charset="-79"/>
              </a:rPr>
              <a:t>User Identity verification after detecting malicious activity:-</a:t>
            </a:r>
            <a:endParaRPr lang="en-IN" u="sng" dirty="0"/>
          </a:p>
        </p:txBody>
      </p:sp>
      <p:sp>
        <p:nvSpPr>
          <p:cNvPr id="3" name="Content Placeholder 2">
            <a:extLst>
              <a:ext uri="{FF2B5EF4-FFF2-40B4-BE49-F238E27FC236}">
                <a16:creationId xmlns:a16="http://schemas.microsoft.com/office/drawing/2014/main" id="{53003405-B546-44E7-96E1-10F02F63D80A}"/>
              </a:ext>
            </a:extLst>
          </p:cNvPr>
          <p:cNvSpPr>
            <a:spLocks noGrp="1"/>
          </p:cNvSpPr>
          <p:nvPr>
            <p:ph idx="1"/>
          </p:nvPr>
        </p:nvSpPr>
        <p:spPr>
          <a:xfrm>
            <a:off x="1066800" y="1476462"/>
            <a:ext cx="10058400" cy="4476282"/>
          </a:xfrm>
        </p:spPr>
        <p:txBody>
          <a:bodyPr>
            <a:noAutofit/>
          </a:bodyPr>
          <a:lstStyle/>
          <a:p>
            <a:pPr marL="0" indent="0">
              <a:buNone/>
            </a:pPr>
            <a:r>
              <a:rPr lang="en-US" sz="2500" dirty="0">
                <a:latin typeface="Aharoni" panose="02010803020104030203" pitchFamily="2" charset="-79"/>
                <a:cs typeface="Aharoni" panose="02010803020104030203" pitchFamily="2" charset="-79"/>
              </a:rPr>
              <a:t> </a:t>
            </a:r>
            <a:r>
              <a:rPr lang="en-US" sz="2200" dirty="0">
                <a:latin typeface="Aharoni" panose="02010803020104030203" pitchFamily="2" charset="-79"/>
                <a:cs typeface="Aharoni" panose="02010803020104030203" pitchFamily="2" charset="-79"/>
              </a:rPr>
              <a:t>Risk types and detection:-</a:t>
            </a:r>
          </a:p>
          <a:p>
            <a:pPr marL="0" indent="0">
              <a:buNone/>
            </a:pPr>
            <a:r>
              <a:rPr lang="en-US" sz="2200" dirty="0">
                <a:latin typeface="Aharoni" panose="02010803020104030203" pitchFamily="2" charset="-79"/>
                <a:cs typeface="Aharoni" panose="02010803020104030203" pitchFamily="2" charset="-79"/>
              </a:rPr>
              <a:t>There are two types of risk </a:t>
            </a:r>
            <a:r>
              <a:rPr lang="en-US" sz="2200" dirty="0">
                <a:highlight>
                  <a:srgbClr val="FFFF00"/>
                </a:highlight>
                <a:latin typeface="Aharoni" panose="02010803020104030203" pitchFamily="2" charset="-79"/>
                <a:cs typeface="Aharoni" panose="02010803020104030203" pitchFamily="2" charset="-79"/>
              </a:rPr>
              <a:t>User</a:t>
            </a:r>
            <a:r>
              <a:rPr lang="en-US" sz="2200" dirty="0">
                <a:latin typeface="Aharoni" panose="02010803020104030203" pitchFamily="2" charset="-79"/>
                <a:cs typeface="Aharoni" panose="02010803020104030203" pitchFamily="2" charset="-79"/>
              </a:rPr>
              <a:t> and </a:t>
            </a:r>
            <a:r>
              <a:rPr lang="en-US" sz="2200" dirty="0">
                <a:highlight>
                  <a:srgbClr val="FFFF00"/>
                </a:highlight>
                <a:latin typeface="Aharoni" panose="02010803020104030203" pitchFamily="2" charset="-79"/>
                <a:cs typeface="Aharoni" panose="02010803020104030203" pitchFamily="2" charset="-79"/>
              </a:rPr>
              <a:t>Sign-in</a:t>
            </a:r>
            <a:r>
              <a:rPr lang="en-US" sz="2200" dirty="0">
                <a:latin typeface="Aharoni" panose="02010803020104030203" pitchFamily="2" charset="-79"/>
                <a:cs typeface="Aharoni" panose="02010803020104030203" pitchFamily="2" charset="-79"/>
              </a:rPr>
              <a:t> and two types of detection or calculation Real-time and Offline.</a:t>
            </a:r>
          </a:p>
          <a:p>
            <a:pPr marL="0" indent="0">
              <a:buNone/>
            </a:pPr>
            <a:endParaRPr lang="en-US" sz="2200" dirty="0">
              <a:latin typeface="Aharoni" panose="02010803020104030203" pitchFamily="2" charset="-79"/>
              <a:cs typeface="Aharoni" panose="02010803020104030203" pitchFamily="2" charset="-79"/>
            </a:endParaRPr>
          </a:p>
          <a:p>
            <a:pPr marL="0" indent="0">
              <a:buNone/>
            </a:pPr>
            <a:r>
              <a:rPr lang="en-US" sz="2200" dirty="0">
                <a:latin typeface="Aharoni" panose="02010803020104030203" pitchFamily="2" charset="-79"/>
                <a:cs typeface="Aharoni" panose="02010803020104030203" pitchFamily="2" charset="-79"/>
              </a:rPr>
              <a:t> </a:t>
            </a:r>
            <a:r>
              <a:rPr lang="en-US" sz="2200" u="sng" dirty="0">
                <a:latin typeface="Aharoni" panose="02010803020104030203" pitchFamily="2" charset="-79"/>
                <a:cs typeface="Aharoni" panose="02010803020104030203" pitchFamily="2" charset="-79"/>
              </a:rPr>
              <a:t>Real-time detections </a:t>
            </a:r>
            <a:r>
              <a:rPr lang="en-US" sz="2200" dirty="0">
                <a:latin typeface="Aharoni" panose="02010803020104030203" pitchFamily="2" charset="-79"/>
                <a:cs typeface="Aharoni" panose="02010803020104030203" pitchFamily="2" charset="-79"/>
              </a:rPr>
              <a:t>may not show up in reporting for five to ten minutes. </a:t>
            </a:r>
          </a:p>
          <a:p>
            <a:pPr marL="0" indent="0">
              <a:buNone/>
            </a:pPr>
            <a:r>
              <a:rPr lang="en-US" sz="2200" dirty="0">
                <a:latin typeface="Aharoni" panose="02010803020104030203" pitchFamily="2" charset="-79"/>
                <a:cs typeface="Aharoni" panose="02010803020104030203" pitchFamily="2" charset="-79"/>
              </a:rPr>
              <a:t> </a:t>
            </a:r>
            <a:r>
              <a:rPr lang="en-US" sz="2200" u="sng" dirty="0">
                <a:latin typeface="Aharoni" panose="02010803020104030203" pitchFamily="2" charset="-79"/>
                <a:cs typeface="Aharoni" panose="02010803020104030203" pitchFamily="2" charset="-79"/>
              </a:rPr>
              <a:t>Offline detections </a:t>
            </a:r>
            <a:r>
              <a:rPr lang="en-US" sz="2200" dirty="0">
                <a:latin typeface="Aharoni" panose="02010803020104030203" pitchFamily="2" charset="-79"/>
                <a:cs typeface="Aharoni" panose="02010803020104030203" pitchFamily="2" charset="-79"/>
              </a:rPr>
              <a:t>may not show up in reporting for two to twenty-four    hours.</a:t>
            </a:r>
          </a:p>
          <a:p>
            <a:pPr marL="0" indent="0">
              <a:buNone/>
            </a:pPr>
            <a:r>
              <a:rPr lang="en-US" sz="2200" dirty="0">
                <a:latin typeface="Aharoni" panose="02010803020104030203" pitchFamily="2" charset="-79"/>
                <a:cs typeface="Aharoni" panose="02010803020104030203" pitchFamily="2" charset="-79"/>
              </a:rPr>
              <a:t>  TO AVOID THE RISKS, WE HAVE PLANNED TO USE MICROSOFT AZURE PLATFORM( we will discuss it’s benefit further).</a:t>
            </a:r>
          </a:p>
          <a:p>
            <a:endParaRPr lang="en-US" sz="2200" dirty="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68218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AF5A9-D57E-4BE7-A733-91FAF661ABC2}"/>
              </a:ext>
            </a:extLst>
          </p:cNvPr>
          <p:cNvSpPr>
            <a:spLocks noGrp="1"/>
          </p:cNvSpPr>
          <p:nvPr>
            <p:ph type="title"/>
          </p:nvPr>
        </p:nvSpPr>
        <p:spPr/>
        <p:txBody>
          <a:bodyPr/>
          <a:lstStyle/>
          <a:p>
            <a:r>
              <a:rPr lang="en-US" dirty="0"/>
              <a:t>USER RISK:-</a:t>
            </a:r>
            <a:endParaRPr lang="en-IN" dirty="0"/>
          </a:p>
        </p:txBody>
      </p:sp>
      <p:sp>
        <p:nvSpPr>
          <p:cNvPr id="3" name="Content Placeholder 2">
            <a:extLst>
              <a:ext uri="{FF2B5EF4-FFF2-40B4-BE49-F238E27FC236}">
                <a16:creationId xmlns:a16="http://schemas.microsoft.com/office/drawing/2014/main" id="{A2F96D0C-5FEF-4482-9672-8929978CFB8C}"/>
              </a:ext>
            </a:extLst>
          </p:cNvPr>
          <p:cNvSpPr>
            <a:spLocks noGrp="1"/>
          </p:cNvSpPr>
          <p:nvPr>
            <p:ph idx="1"/>
          </p:nvPr>
        </p:nvSpPr>
        <p:spPr>
          <a:xfrm>
            <a:off x="1066800" y="1627464"/>
            <a:ext cx="10058400" cy="4764948"/>
          </a:xfrm>
        </p:spPr>
        <p:txBody>
          <a:bodyPr>
            <a:normAutofit/>
          </a:bodyPr>
          <a:lstStyle/>
          <a:p>
            <a:pPr marL="0" indent="0">
              <a:buNone/>
            </a:pPr>
            <a:endParaRPr lang="en-US" dirty="0"/>
          </a:p>
          <a:p>
            <a:pPr marL="0" indent="0">
              <a:buNone/>
            </a:pPr>
            <a:r>
              <a:rPr lang="en-US" sz="2500" dirty="0">
                <a:latin typeface="Aharoni" panose="02010803020104030203" pitchFamily="2" charset="-79"/>
                <a:cs typeface="Aharoni" panose="02010803020104030203" pitchFamily="2" charset="-79"/>
              </a:rPr>
              <a:t>A user risk represents the probability that a given identity or account is compromised.</a:t>
            </a:r>
          </a:p>
          <a:p>
            <a:pPr marL="0" indent="0">
              <a:buNone/>
            </a:pPr>
            <a:r>
              <a:rPr lang="en-US" sz="2500" u="sng" dirty="0">
                <a:latin typeface="Aharoni" panose="02010803020104030203" pitchFamily="2" charset="-79"/>
                <a:cs typeface="Aharoni" panose="02010803020104030203" pitchFamily="2" charset="-79"/>
              </a:rPr>
              <a:t>BENEFITS OF USING AZURE IN SUCH SITUATION</a:t>
            </a:r>
            <a:r>
              <a:rPr lang="en-US" sz="2500" dirty="0">
                <a:latin typeface="Aharoni" panose="02010803020104030203" pitchFamily="2" charset="-79"/>
                <a:cs typeface="Aharoni" panose="02010803020104030203" pitchFamily="2" charset="-79"/>
              </a:rPr>
              <a:t>:-</a:t>
            </a:r>
          </a:p>
          <a:p>
            <a:pPr marL="0" indent="0">
              <a:buNone/>
            </a:pPr>
            <a:r>
              <a:rPr lang="en-US" dirty="0"/>
              <a:t>	</a:t>
            </a:r>
            <a:r>
              <a:rPr lang="en-US" sz="1700" dirty="0">
                <a:latin typeface="Abadi" panose="020B0604020202020204" pitchFamily="34" charset="0"/>
              </a:rPr>
              <a:t>The </a:t>
            </a:r>
            <a:r>
              <a:rPr lang="en-US" sz="1700" dirty="0">
                <a:highlight>
                  <a:srgbClr val="FFFF00"/>
                </a:highlight>
                <a:latin typeface="Abadi" panose="020B0604020202020204" pitchFamily="34" charset="0"/>
              </a:rPr>
              <a:t>LEAKED CREDENTIALS </a:t>
            </a:r>
            <a:r>
              <a:rPr lang="en-US" sz="1700" dirty="0">
                <a:latin typeface="Abadi" panose="020B0604020202020204" pitchFamily="34" charset="0"/>
              </a:rPr>
              <a:t>risk detection type indicates that the user's valid credentials have been leaked. When cybercriminals compromise valid passwords of legitimate users, they often share those credentials. This sharing is typically done by posting publicly on the dark web, paste sites, or by trading and selling the credentials on the black market. When the Microsoft leaked credentials service acquires user credentials from the dark web, paste sites, or other sources, they are checked against Azure AD users' current valid credentials to find valid matches.</a:t>
            </a:r>
          </a:p>
          <a:p>
            <a:pPr marL="0" indent="0">
              <a:buNone/>
            </a:pPr>
            <a:r>
              <a:rPr lang="en-US" sz="1700" dirty="0">
                <a:highlight>
                  <a:srgbClr val="FFFF00"/>
                </a:highlight>
                <a:latin typeface="Abadi" panose="020B0604020202020204" pitchFamily="34" charset="0"/>
              </a:rPr>
              <a:t>Azure AD threat intelligence</a:t>
            </a:r>
            <a:r>
              <a:rPr lang="en-US" sz="1700" dirty="0">
                <a:latin typeface="Abadi" panose="020B0604020202020204" pitchFamily="34" charset="0"/>
              </a:rPr>
              <a:t>:- 	This risk detection type indicates user activity that is unusual for the     given user or is consistent with known attack patterns based on Microsoft's internal and external threat intelligence sources.</a:t>
            </a:r>
            <a:endParaRPr lang="en-IN" sz="1700" dirty="0">
              <a:latin typeface="Abadi" panose="020B0604020202020204" pitchFamily="34" charset="0"/>
            </a:endParaRPr>
          </a:p>
        </p:txBody>
      </p:sp>
    </p:spTree>
    <p:extLst>
      <p:ext uri="{BB962C8B-B14F-4D97-AF65-F5344CB8AC3E}">
        <p14:creationId xmlns:p14="http://schemas.microsoft.com/office/powerpoint/2010/main" val="2574100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A4959-0DDD-46C1-B4CE-1D78BF8CA119}"/>
              </a:ext>
            </a:extLst>
          </p:cNvPr>
          <p:cNvSpPr>
            <a:spLocks noGrp="1"/>
          </p:cNvSpPr>
          <p:nvPr>
            <p:ph type="title"/>
          </p:nvPr>
        </p:nvSpPr>
        <p:spPr>
          <a:xfrm>
            <a:off x="1066800" y="642594"/>
            <a:ext cx="10058400" cy="557032"/>
          </a:xfrm>
        </p:spPr>
        <p:txBody>
          <a:bodyPr>
            <a:normAutofit fontScale="90000"/>
          </a:bodyPr>
          <a:lstStyle/>
          <a:p>
            <a:r>
              <a:rPr lang="en-US" dirty="0"/>
              <a:t>Sign-in risk:-</a:t>
            </a:r>
            <a:endParaRPr lang="en-IN" dirty="0"/>
          </a:p>
        </p:txBody>
      </p:sp>
      <p:sp>
        <p:nvSpPr>
          <p:cNvPr id="3" name="Content Placeholder 2">
            <a:extLst>
              <a:ext uri="{FF2B5EF4-FFF2-40B4-BE49-F238E27FC236}">
                <a16:creationId xmlns:a16="http://schemas.microsoft.com/office/drawing/2014/main" id="{81157096-4644-4489-91CA-10B51CB1595D}"/>
              </a:ext>
            </a:extLst>
          </p:cNvPr>
          <p:cNvSpPr>
            <a:spLocks noGrp="1"/>
          </p:cNvSpPr>
          <p:nvPr>
            <p:ph idx="1"/>
          </p:nvPr>
        </p:nvSpPr>
        <p:spPr>
          <a:xfrm>
            <a:off x="1066800" y="1266738"/>
            <a:ext cx="10058400" cy="4686006"/>
          </a:xfrm>
        </p:spPr>
        <p:txBody>
          <a:bodyPr>
            <a:normAutofit/>
          </a:bodyPr>
          <a:lstStyle/>
          <a:p>
            <a:pPr marL="0" indent="0">
              <a:buNone/>
            </a:pPr>
            <a:r>
              <a:rPr lang="en-US" sz="2500" dirty="0">
                <a:latin typeface="Aharoni" panose="02010803020104030203" pitchFamily="2" charset="-79"/>
                <a:cs typeface="Aharoni" panose="02010803020104030203" pitchFamily="2" charset="-79"/>
              </a:rPr>
              <a:t>A sign-in risk represents the probability that a given authentication request isn't authorized by the identity owner.</a:t>
            </a:r>
          </a:p>
          <a:p>
            <a:pPr marL="0" indent="0">
              <a:buNone/>
            </a:pPr>
            <a:endParaRPr lang="en-US" sz="2500" dirty="0">
              <a:latin typeface="Aharoni" panose="02010803020104030203" pitchFamily="2" charset="-79"/>
              <a:cs typeface="Aharoni" panose="02010803020104030203" pitchFamily="2" charset="-79"/>
            </a:endParaRPr>
          </a:p>
          <a:p>
            <a:pPr marL="0" indent="0">
              <a:buNone/>
            </a:pPr>
            <a:r>
              <a:rPr lang="en-US" sz="2500" dirty="0">
                <a:latin typeface="Aharoni" panose="02010803020104030203" pitchFamily="2" charset="-79"/>
                <a:cs typeface="Aharoni" panose="02010803020104030203" pitchFamily="2" charset="-79"/>
              </a:rPr>
              <a:t>These risks can be calculated in real-time or calculated offline using Microsoft's internal and external threat intelligence sources including security researchers, law enforcement professionals, security teams at Microsoft, and other trusted sources.</a:t>
            </a:r>
          </a:p>
          <a:p>
            <a:pPr marL="0" indent="0">
              <a:buNone/>
            </a:pPr>
            <a:endParaRPr lang="en-US" sz="2500" dirty="0">
              <a:latin typeface="Aharoni" panose="02010803020104030203" pitchFamily="2" charset="-79"/>
              <a:cs typeface="Aharoni" panose="02010803020104030203" pitchFamily="2" charset="-79"/>
            </a:endParaRPr>
          </a:p>
          <a:p>
            <a:pPr marL="0" indent="0">
              <a:buNone/>
            </a:pPr>
            <a:r>
              <a:rPr lang="en-US" sz="1300" dirty="0">
                <a:latin typeface="Aldhabi" panose="01000000000000000000" pitchFamily="2" charset="-78"/>
                <a:cs typeface="Aldhabi" panose="01000000000000000000" pitchFamily="2" charset="-78"/>
              </a:rPr>
              <a:t>Other details related to azure can be found on:-</a:t>
            </a:r>
          </a:p>
          <a:p>
            <a:pPr marL="0" indent="0">
              <a:buNone/>
            </a:pPr>
            <a:r>
              <a:rPr lang="en-US" sz="1300" dirty="0">
                <a:latin typeface="Aldhabi" panose="01000000000000000000" pitchFamily="2" charset="-78"/>
                <a:cs typeface="Aldhabi" panose="01000000000000000000" pitchFamily="2" charset="-78"/>
              </a:rPr>
              <a:t> https://docs.microsoft.com/en-us/azure/active-directory/identity-protection/concept-identity-protection-risks</a:t>
            </a:r>
          </a:p>
          <a:p>
            <a:pPr marL="0" indent="0">
              <a:buNone/>
            </a:pPr>
            <a:endParaRPr lang="en-US" sz="2200" dirty="0">
              <a:latin typeface="Aharoni" panose="02010803020104030203" pitchFamily="2" charset="-79"/>
              <a:cs typeface="Aharoni" panose="02010803020104030203" pitchFamily="2" charset="-79"/>
            </a:endParaRPr>
          </a:p>
          <a:p>
            <a:pPr marL="0" indent="0">
              <a:buNone/>
            </a:pPr>
            <a:endParaRPr lang="en-IN" sz="2200" dirty="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1125086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B5F43-3234-453B-A9A5-89A8FF967EC7}"/>
              </a:ext>
            </a:extLst>
          </p:cNvPr>
          <p:cNvSpPr>
            <a:spLocks noGrp="1"/>
          </p:cNvSpPr>
          <p:nvPr>
            <p:ph type="title"/>
          </p:nvPr>
        </p:nvSpPr>
        <p:spPr>
          <a:xfrm>
            <a:off x="1066800" y="642594"/>
            <a:ext cx="10058400" cy="624144"/>
          </a:xfrm>
        </p:spPr>
        <p:txBody>
          <a:bodyPr>
            <a:normAutofit/>
          </a:bodyPr>
          <a:lstStyle/>
          <a:p>
            <a:r>
              <a:rPr lang="en-US" sz="3500" dirty="0"/>
              <a:t>Avoiding Money Laundering:-</a:t>
            </a:r>
            <a:endParaRPr lang="en-IN" sz="3500" dirty="0"/>
          </a:p>
        </p:txBody>
      </p:sp>
      <p:sp>
        <p:nvSpPr>
          <p:cNvPr id="3" name="Content Placeholder 2">
            <a:extLst>
              <a:ext uri="{FF2B5EF4-FFF2-40B4-BE49-F238E27FC236}">
                <a16:creationId xmlns:a16="http://schemas.microsoft.com/office/drawing/2014/main" id="{D8FE02D1-6D80-43B0-A26D-04DEB8442AC5}"/>
              </a:ext>
            </a:extLst>
          </p:cNvPr>
          <p:cNvSpPr>
            <a:spLocks noGrp="1"/>
          </p:cNvSpPr>
          <p:nvPr>
            <p:ph idx="1"/>
          </p:nvPr>
        </p:nvSpPr>
        <p:spPr>
          <a:xfrm>
            <a:off x="1066800" y="1266738"/>
            <a:ext cx="10058400" cy="5217952"/>
          </a:xfrm>
        </p:spPr>
        <p:txBody>
          <a:bodyPr>
            <a:noAutofit/>
          </a:bodyPr>
          <a:lstStyle/>
          <a:p>
            <a:r>
              <a:rPr lang="en-US" sz="2400" dirty="0">
                <a:latin typeface="Aharoni" panose="02010803020104030203" pitchFamily="2" charset="-79"/>
                <a:cs typeface="Aharoni" panose="02010803020104030203" pitchFamily="2" charset="-79"/>
              </a:rPr>
              <a:t>Law enforcement agencies have designed strategies based on the three-staged money laundering cycle, which is rarely used by financial institutions to identify risks.</a:t>
            </a:r>
          </a:p>
          <a:p>
            <a:r>
              <a:rPr lang="en-US" sz="2400" dirty="0">
                <a:latin typeface="Aharoni" panose="02010803020104030203" pitchFamily="2" charset="-79"/>
                <a:cs typeface="Aharoni" panose="02010803020104030203" pitchFamily="2" charset="-79"/>
              </a:rPr>
              <a:t>The risks a bank faces during the money laundering cycle are classified into two categories – </a:t>
            </a:r>
            <a:r>
              <a:rPr lang="en-US" sz="2400" dirty="0">
                <a:highlight>
                  <a:srgbClr val="FFFF00"/>
                </a:highlight>
                <a:latin typeface="Aharoni" panose="02010803020104030203" pitchFamily="2" charset="-79"/>
                <a:cs typeface="Aharoni" panose="02010803020104030203" pitchFamily="2" charset="-79"/>
              </a:rPr>
              <a:t>criminal environment </a:t>
            </a:r>
            <a:r>
              <a:rPr lang="en-US" sz="2400" dirty="0">
                <a:latin typeface="Aharoni" panose="02010803020104030203" pitchFamily="2" charset="-79"/>
                <a:cs typeface="Aharoni" panose="02010803020104030203" pitchFamily="2" charset="-79"/>
              </a:rPr>
              <a:t>and </a:t>
            </a:r>
            <a:r>
              <a:rPr lang="en-US" sz="2400" dirty="0">
                <a:highlight>
                  <a:srgbClr val="FFFF00"/>
                </a:highlight>
                <a:latin typeface="Aharoni" panose="02010803020104030203" pitchFamily="2" charset="-79"/>
                <a:cs typeface="Aharoni" panose="02010803020104030203" pitchFamily="2" charset="-79"/>
              </a:rPr>
              <a:t>product </a:t>
            </a:r>
            <a:r>
              <a:rPr lang="en-US" sz="2400" dirty="0">
                <a:latin typeface="Aharoni" panose="02010803020104030203" pitchFamily="2" charset="-79"/>
                <a:cs typeface="Aharoni" panose="02010803020104030203" pitchFamily="2" charset="-79"/>
              </a:rPr>
              <a:t>and </a:t>
            </a:r>
            <a:r>
              <a:rPr lang="en-US" sz="2400" dirty="0">
                <a:highlight>
                  <a:srgbClr val="FFFF00"/>
                </a:highlight>
                <a:latin typeface="Aharoni" panose="02010803020104030203" pitchFamily="2" charset="-79"/>
                <a:cs typeface="Aharoni" panose="02010803020104030203" pitchFamily="2" charset="-79"/>
              </a:rPr>
              <a:t>service risk</a:t>
            </a:r>
            <a:r>
              <a:rPr lang="en-US" sz="2400" dirty="0">
                <a:latin typeface="Aharoni" panose="02010803020104030203" pitchFamily="2" charset="-79"/>
                <a:cs typeface="Aharoni" panose="02010803020104030203" pitchFamily="2" charset="-79"/>
              </a:rPr>
              <a:t>.</a:t>
            </a:r>
          </a:p>
          <a:p>
            <a:r>
              <a:rPr lang="en-US" sz="2400" dirty="0">
                <a:latin typeface="Aharoni" panose="02010803020104030203" pitchFamily="2" charset="-79"/>
                <a:cs typeface="Aharoni" panose="02010803020104030203" pitchFamily="2" charset="-79"/>
              </a:rPr>
              <a:t>Banks should overlay the relevant Anti-Money Laundering and Counter Financing of Terrorism legislative elements once it has mapped out the risks it faces to ensure preventive measures on illegal activity are effective.</a:t>
            </a:r>
            <a:endParaRPr lang="en-IN" sz="2400" dirty="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4258606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97C2BF-2C09-4F8B-8043-BCB4DF43F5A0}"/>
              </a:ext>
            </a:extLst>
          </p:cNvPr>
          <p:cNvSpPr txBox="1"/>
          <p:nvPr/>
        </p:nvSpPr>
        <p:spPr>
          <a:xfrm>
            <a:off x="486561" y="486561"/>
            <a:ext cx="11224470" cy="10802957"/>
          </a:xfrm>
          <a:prstGeom prst="rect">
            <a:avLst/>
          </a:prstGeom>
          <a:noFill/>
        </p:spPr>
        <p:txBody>
          <a:bodyPr wrap="square" rtlCol="0">
            <a:spAutoFit/>
          </a:bodyPr>
          <a:lstStyle/>
          <a:p>
            <a:r>
              <a:rPr lang="en-US" dirty="0">
                <a:latin typeface="Aharoni" panose="02010803020104030203" pitchFamily="2" charset="-79"/>
                <a:cs typeface="Aharoni" panose="02010803020104030203" pitchFamily="2" charset="-79"/>
              </a:rPr>
              <a:t>Prevention of Money Laundering:-</a:t>
            </a:r>
            <a:br>
              <a:rPr lang="en-US" dirty="0"/>
            </a:br>
            <a:br>
              <a:rPr lang="en-US" dirty="0"/>
            </a:br>
            <a:r>
              <a:rPr lang="en-US" sz="2600" dirty="0">
                <a:latin typeface="Abadi" panose="020B0604020104020204" pitchFamily="34" charset="0"/>
              </a:rPr>
              <a:t>Developing an </a:t>
            </a:r>
            <a:r>
              <a:rPr lang="en-US" sz="2600" u="sng" dirty="0">
                <a:latin typeface="Abadi" panose="020B0604020104020204" pitchFamily="34" charset="0"/>
              </a:rPr>
              <a:t>AML</a:t>
            </a:r>
            <a:r>
              <a:rPr lang="en-US" sz="2600" dirty="0">
                <a:latin typeface="Abadi" panose="020B0604020104020204" pitchFamily="34" charset="0"/>
              </a:rPr>
              <a:t> technology powered by </a:t>
            </a:r>
            <a:r>
              <a:rPr lang="en-US" sz="2600" u="sng" dirty="0">
                <a:latin typeface="Abadi" panose="020B0604020104020204" pitchFamily="34" charset="0"/>
              </a:rPr>
              <a:t>A.I </a:t>
            </a:r>
            <a:r>
              <a:rPr lang="en-US" sz="2600" dirty="0">
                <a:latin typeface="Abadi" panose="020B0604020104020204" pitchFamily="34" charset="0"/>
              </a:rPr>
              <a:t>to learn the transaction history and based on that flag an alert to the bank.</a:t>
            </a:r>
          </a:p>
          <a:p>
            <a:r>
              <a:rPr lang="en-US" sz="2600" dirty="0">
                <a:latin typeface="Abadi" panose="020B0604020104020204" pitchFamily="34" charset="0"/>
              </a:rPr>
              <a:t>To </a:t>
            </a:r>
            <a:r>
              <a:rPr lang="en-US" sz="2600" u="sng" dirty="0">
                <a:latin typeface="Abadi" panose="020B0604020104020204" pitchFamily="34" charset="0"/>
              </a:rPr>
              <a:t>avoid False alert or any mistakes in alerts </a:t>
            </a:r>
            <a:r>
              <a:rPr lang="en-US" sz="2600" dirty="0">
                <a:latin typeface="Abadi" panose="020B0604020104020204" pitchFamily="34" charset="0"/>
              </a:rPr>
              <a:t>, the AML will be configured such as that if in the account transaction history small amount transaction is observed and suddenly </a:t>
            </a:r>
            <a:r>
              <a:rPr lang="en-US" sz="2600" u="sng" dirty="0">
                <a:latin typeface="Abadi" panose="020B0604020104020204" pitchFamily="34" charset="0"/>
              </a:rPr>
              <a:t>Large amount is Debited Or Credited </a:t>
            </a:r>
            <a:r>
              <a:rPr lang="en-US" sz="2600" dirty="0">
                <a:latin typeface="Abadi" panose="020B0604020104020204" pitchFamily="34" charset="0"/>
              </a:rPr>
              <a:t>then at first the AML will ask for details why is the amount being sent which will </a:t>
            </a:r>
          </a:p>
          <a:p>
            <a:r>
              <a:rPr lang="en-US" sz="2600" dirty="0">
                <a:latin typeface="Abadi" panose="020B0604020104020204" pitchFamily="34" charset="0"/>
              </a:rPr>
              <a:t>then be </a:t>
            </a:r>
            <a:r>
              <a:rPr lang="en-US" sz="2600" u="sng" dirty="0">
                <a:latin typeface="Abadi" panose="020B0604020104020204" pitchFamily="34" charset="0"/>
              </a:rPr>
              <a:t>forwarded to the executive for verification </a:t>
            </a:r>
            <a:r>
              <a:rPr lang="en-US" sz="2600" dirty="0">
                <a:latin typeface="Abadi" panose="020B0604020104020204" pitchFamily="34" charset="0"/>
              </a:rPr>
              <a:t>and if the sender/receiver </a:t>
            </a:r>
            <a:r>
              <a:rPr lang="en-US" sz="2600" u="sng" dirty="0">
                <a:latin typeface="Abadi" panose="020B0604020104020204" pitchFamily="34" charset="0"/>
              </a:rPr>
              <a:t>fails to clarify </a:t>
            </a:r>
            <a:r>
              <a:rPr lang="en-US" sz="2600" dirty="0">
                <a:latin typeface="Abadi" panose="020B0604020104020204" pitchFamily="34" charset="0"/>
              </a:rPr>
              <a:t>about the transaction then the </a:t>
            </a:r>
            <a:r>
              <a:rPr lang="en-US" sz="2600" u="sng" dirty="0">
                <a:latin typeface="Abadi" panose="020B0604020104020204" pitchFamily="34" charset="0"/>
              </a:rPr>
              <a:t>Flag alert will be given to the </a:t>
            </a:r>
            <a:r>
              <a:rPr lang="en-US" sz="2600" dirty="0">
                <a:latin typeface="Abadi" panose="020B0604020104020204" pitchFamily="34" charset="0"/>
              </a:rPr>
              <a:t>bank. </a:t>
            </a:r>
          </a:p>
          <a:p>
            <a:endParaRPr lang="en-US" sz="2600" dirty="0">
              <a:latin typeface="Abadi" panose="020B0604020104020204" pitchFamily="34" charset="0"/>
            </a:endParaRPr>
          </a:p>
          <a:p>
            <a:r>
              <a:rPr lang="en-US" sz="2600" dirty="0">
                <a:latin typeface="Abadi" panose="020B0604020104020204" pitchFamily="34" charset="0"/>
              </a:rPr>
              <a:t>It will also check whether the recipient’s bank account is </a:t>
            </a:r>
            <a:r>
              <a:rPr lang="en-US" sz="2600" u="sng" dirty="0">
                <a:latin typeface="Abadi" panose="020B0604020104020204" pitchFamily="34" charset="0"/>
              </a:rPr>
              <a:t>national or foreign</a:t>
            </a:r>
          </a:p>
          <a:p>
            <a:r>
              <a:rPr lang="en-US" sz="2600" dirty="0">
                <a:latin typeface="Abadi" panose="020B0604020104020204" pitchFamily="34" charset="0"/>
              </a:rPr>
              <a:t>and if the technology observes </a:t>
            </a:r>
            <a:r>
              <a:rPr lang="en-US" sz="2600" u="sng" dirty="0">
                <a:latin typeface="Abadi" panose="020B0604020104020204" pitchFamily="34" charset="0"/>
              </a:rPr>
              <a:t>malicious/suspicious </a:t>
            </a:r>
            <a:r>
              <a:rPr lang="en-US" sz="2600" dirty="0">
                <a:latin typeface="Abadi" panose="020B0604020104020204" pitchFamily="34" charset="0"/>
              </a:rPr>
              <a:t>activity the Flag alert will also be raised for Recipient’s bank</a:t>
            </a:r>
            <a:r>
              <a:rPr lang="en-US" sz="2600" u="sng" dirty="0">
                <a:latin typeface="Abadi" panose="020B0604020104020204" pitchFamily="34" charset="0"/>
              </a:rPr>
              <a:t>.</a:t>
            </a:r>
            <a:br>
              <a:rPr lang="en-US" sz="2600" u="sng" dirty="0">
                <a:latin typeface="Abadi" panose="020B0604020104020204" pitchFamily="34" charset="0"/>
              </a:rPr>
            </a:br>
            <a:br>
              <a:rPr lang="en-US" sz="2600" dirty="0"/>
            </a:br>
            <a:br>
              <a:rPr lang="en-US" sz="2600"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IN" dirty="0"/>
          </a:p>
        </p:txBody>
      </p:sp>
    </p:spTree>
    <p:extLst>
      <p:ext uri="{BB962C8B-B14F-4D97-AF65-F5344CB8AC3E}">
        <p14:creationId xmlns:p14="http://schemas.microsoft.com/office/powerpoint/2010/main" val="3090332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2F0731-6D21-4A89-830B-EE4723B4C609}"/>
              </a:ext>
            </a:extLst>
          </p:cNvPr>
          <p:cNvSpPr txBox="1"/>
          <p:nvPr/>
        </p:nvSpPr>
        <p:spPr>
          <a:xfrm>
            <a:off x="3016317" y="1877155"/>
            <a:ext cx="11165747" cy="1015663"/>
          </a:xfrm>
          <a:prstGeom prst="rect">
            <a:avLst/>
          </a:prstGeom>
          <a:noFill/>
        </p:spPr>
        <p:txBody>
          <a:bodyPr wrap="square" rtlCol="0">
            <a:spAutoFit/>
          </a:bodyPr>
          <a:lstStyle/>
          <a:p>
            <a:r>
              <a:rPr lang="en-US" sz="6000" dirty="0"/>
              <a:t>THANK YOU</a:t>
            </a:r>
            <a:endParaRPr lang="en-IN" sz="6000" dirty="0"/>
          </a:p>
        </p:txBody>
      </p:sp>
      <p:sp>
        <p:nvSpPr>
          <p:cNvPr id="4" name="TextBox 3">
            <a:extLst>
              <a:ext uri="{FF2B5EF4-FFF2-40B4-BE49-F238E27FC236}">
                <a16:creationId xmlns:a16="http://schemas.microsoft.com/office/drawing/2014/main" id="{1916FC56-341C-417B-967B-B5F0B9A4B4BB}"/>
              </a:ext>
            </a:extLst>
          </p:cNvPr>
          <p:cNvSpPr txBox="1"/>
          <p:nvPr/>
        </p:nvSpPr>
        <p:spPr>
          <a:xfrm>
            <a:off x="690113" y="3429000"/>
            <a:ext cx="10662249" cy="2954655"/>
          </a:xfrm>
          <a:prstGeom prst="rect">
            <a:avLst/>
          </a:prstGeom>
          <a:noFill/>
        </p:spPr>
        <p:txBody>
          <a:bodyPr wrap="square" rtlCol="0">
            <a:spAutoFit/>
          </a:bodyPr>
          <a:lstStyle/>
          <a:p>
            <a:r>
              <a:rPr lang="en-US" sz="2800" dirty="0">
                <a:highlight>
                  <a:srgbClr val="FFFF00"/>
                </a:highlight>
              </a:rPr>
              <a:t>Members:-</a:t>
            </a:r>
          </a:p>
          <a:p>
            <a:endParaRPr lang="en-US" sz="2800" dirty="0"/>
          </a:p>
          <a:p>
            <a:r>
              <a:rPr lang="en-US" sz="2800" dirty="0"/>
              <a:t>Aditya Gupta</a:t>
            </a:r>
          </a:p>
          <a:p>
            <a:r>
              <a:rPr lang="en-US" sz="2800" dirty="0" err="1"/>
              <a:t>Laksh</a:t>
            </a:r>
            <a:r>
              <a:rPr lang="en-US" sz="2800" dirty="0"/>
              <a:t> Salian</a:t>
            </a:r>
          </a:p>
          <a:p>
            <a:r>
              <a:rPr lang="en-US" sz="2800" dirty="0" err="1"/>
              <a:t>Isha</a:t>
            </a:r>
            <a:r>
              <a:rPr lang="en-US" sz="2800" dirty="0"/>
              <a:t> Shrivastava</a:t>
            </a:r>
          </a:p>
          <a:p>
            <a:r>
              <a:rPr lang="en-US" sz="2800" dirty="0" err="1"/>
              <a:t>Preethika</a:t>
            </a:r>
            <a:endParaRPr lang="en-US" sz="2800" dirty="0"/>
          </a:p>
          <a:p>
            <a:endParaRPr lang="en-IN" dirty="0"/>
          </a:p>
        </p:txBody>
      </p:sp>
    </p:spTree>
    <p:extLst>
      <p:ext uri="{BB962C8B-B14F-4D97-AF65-F5344CB8AC3E}">
        <p14:creationId xmlns:p14="http://schemas.microsoft.com/office/powerpoint/2010/main" val="26578068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FIVE">
      <a:dk1>
        <a:sysClr val="windowText" lastClr="000000"/>
      </a:dk1>
      <a:lt1>
        <a:sysClr val="window" lastClr="FFFFFF"/>
      </a:lt1>
      <a:dk2>
        <a:srgbClr val="505046"/>
      </a:dk2>
      <a:lt2>
        <a:srgbClr val="F5F6F4"/>
      </a:lt2>
      <a:accent1>
        <a:srgbClr val="57903F"/>
      </a:accent1>
      <a:accent2>
        <a:srgbClr val="F03F2B"/>
      </a:accent2>
      <a:accent3>
        <a:srgbClr val="3488A0"/>
      </a:accent3>
      <a:accent4>
        <a:srgbClr val="F8D22F"/>
      </a:accent4>
      <a:accent5>
        <a:srgbClr val="5CC6D6"/>
      </a:accent5>
      <a:accent6>
        <a:srgbClr val="B8D233"/>
      </a:accent6>
      <a:hlink>
        <a:srgbClr val="00B0F0"/>
      </a:hlink>
      <a:folHlink>
        <a:srgbClr val="B2B2B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Original 5_01_Win32" id="{77344C68-A3F1-476B-8680-97D7F429B46B}" vid="{89780073-58E8-4DFF-BF29-BA99F805284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CDB58277-F8DF-46FF-84EC-EF41B835E69F}">
  <ds:schemaRefs>
    <ds:schemaRef ds:uri="http://schemas.microsoft.com/sharepoint/v3/contenttype/forms"/>
  </ds:schemaRefs>
</ds:datastoreItem>
</file>

<file path=customXml/itemProps2.xml><?xml version="1.0" encoding="utf-8"?>
<ds:datastoreItem xmlns:ds="http://schemas.openxmlformats.org/officeDocument/2006/customXml" ds:itemID="{2D276E62-80A3-44DD-9BCC-97ED2B99B5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37651BA-F45C-4845-9AB3-E0A65B39F5E1}">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{4233F991-8CF8-41C8-B6C9-D952D52D8473}tf78438558_win32</Template>
  <TotalTime>426</TotalTime>
  <Words>894</Words>
  <Application>Microsoft Office PowerPoint</Application>
  <PresentationFormat>Widescreen</PresentationFormat>
  <Paragraphs>65</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Abadi</vt:lpstr>
      <vt:lpstr>Aharoni</vt:lpstr>
      <vt:lpstr>Aldhabi</vt:lpstr>
      <vt:lpstr>Century Gothic</vt:lpstr>
      <vt:lpstr>fakt-web</vt:lpstr>
      <vt:lpstr>Garamond</vt:lpstr>
      <vt:lpstr>SavonVTI</vt:lpstr>
      <vt:lpstr>Team cygma</vt:lpstr>
      <vt:lpstr>FINTECH(FINANCE TECHNOLOGY):-</vt:lpstr>
      <vt:lpstr>MOTIVE OF OUR PROJECT:- BanKing security.</vt:lpstr>
      <vt:lpstr>INTERNET BANKING SECURITY BY:-</vt:lpstr>
      <vt:lpstr>Token Generation:-</vt:lpstr>
      <vt:lpstr>PowerPoint Presentation</vt:lpstr>
      <vt:lpstr>User Identity verification after detecting malicious activity:-</vt:lpstr>
      <vt:lpstr>USER RISK:-</vt:lpstr>
      <vt:lpstr>Sign-in risk:-</vt:lpstr>
      <vt:lpstr>Avoiding Money Laundering:-</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cygma</dc:title>
  <dc:creator>ADITYA RAMASRE GUPTA</dc:creator>
  <cp:lastModifiedBy>ADITYA RAMASRE GUPTA</cp:lastModifiedBy>
  <cp:revision>17</cp:revision>
  <dcterms:created xsi:type="dcterms:W3CDTF">2021-01-06T14:07:33Z</dcterms:created>
  <dcterms:modified xsi:type="dcterms:W3CDTF">2021-01-07T13:50:55Z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